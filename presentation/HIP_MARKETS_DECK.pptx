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/>
</file>

<file path=ppt/slides/_rels/slide2.xml.rels><?xml version="1.0" encoding="UTF-8" standalone="yes"?><Relationships xmlns="http://schemas.openxmlformats.org/package/2006/relationships"/>
</file>

<file path=ppt/slides/_rels/slide3.xml.rels><?xml version="1.0" encoding="UTF-8" standalone="yes"?><Relationships xmlns="http://schemas.openxmlformats.org/package/2006/relationships"/>
</file>

<file path=ppt/slides/_rels/slide4.xml.rels><?xml version="1.0" encoding="UTF-8" standalone="yes"?><Relationships xmlns="http://schemas.openxmlformats.org/package/2006/relationships"/>
</file>

<file path=ppt/slides/_rels/slide5.xml.rels><?xml version="1.0" encoding="UTF-8" standalone="yes"?><Relationships xmlns="http://schemas.openxmlformats.org/package/2006/relationships"/>
</file>

<file path=ppt/slides/_rels/slide6.xml.rels><?xml version="1.0" encoding="UTF-8" standalone="yes"?><Relationships xmlns="http://schemas.openxmlformats.org/package/2006/relationships"/>
</file>

<file path=ppt/slides/_rels/slide7.xml.rels><?xml version="1.0" encoding="UTF-8" standalone="yes"?><Relationships xmlns="http://schemas.openxmlformats.org/package/2006/relationships"/>
</file>

<file path=ppt/slides/_rels/slide8.xml.rels><?xml version="1.0" encoding="UTF-8" standalone="yes"?><Relationships xmlns="http://schemas.openxmlformats.org/package/2006/relationships"/>
</file>

<file path=ppt/slides/_rels/slide9.xml.rels><?xml version="1.0" encoding="UTF-8" standalone="yes"?><Relationships xmlns="http://schemas.openxmlformats.org/package/2006/relationships"/>
</file>

<file path=ppt/slides/_rels/slide10.xml.rels><?xml version="1.0" encoding="UTF-8" standalone="yes"?><Relationships xmlns="http://schemas.openxmlformats.org/package/2006/relationships"/>
</file>

<file path=ppt/slides/_rels/slide11.xml.rels><?xml version="1.0" encoding="UTF-8" standalone="yes"?><Relationships xmlns="http://schemas.openxmlformats.org/package/2006/relationships"/>
</file>

<file path=ppt/slides/_rels/slide12.xml.rels><?xml version="1.0" encoding="UTF-8" standalone="yes"?><Relationships xmlns="http://schemas.openxmlformats.org/package/2006/relationships"/>
</file>

<file path=ppt/slides/_rels/slide13.xml.rels><?xml version="1.0" encoding="UTF-8" standalone="yes"?><Relationships xmlns="http://schemas.openxmlformats.org/package/2006/relationships"/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HIP.markets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Community-backed HIP-3 markets on Hyperliquid.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Pool HYPE. Launch markets. Share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The Problem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HIP-3 DEXs need 500,000 HYPE staked.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Builders need capital. HYPE holders need transparent market-growth yield.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 and slashing risks are hard to price.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The Insight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500,000 HYPE stake is the security layer for a market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If HYPE holders fund that stake, they should share in builder fees.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Product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is both a HyperEVM HYPE vault and a HIP-3 operator.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Deposits back the HIP.markets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Net deployer fees flow back to stakers.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System Flow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1. HYPE holders deposit into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2. Vault backs deployer stake.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3. HIP.markets runs markets and oracles.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4. Traders generate fees.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5. Net fees distribute to stakers.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Why Not Liquid Staking?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Liquid staking earns validator-style yield.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earns market-operator revenue.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Risks: oracle, liquidity, slashing, market selection, fee shortfall.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MVP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HIP.markets-operated DEX.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One HYPE vault.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First three tickers.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Conservative caps.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Weekly fee distributions.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Public oracle and risk dashboard.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Economics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APR depends on volume, fee rate, deployer share, costs, reserves, and HYPE price.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Base case: 500k HYPE, $50M daily volume, 6 bps fee, 50% deployer share.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After 40% deductions: approximately 15% APR.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Risk Controls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Launch simple markets first.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Use redundant oracle feeds.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Cap open interest.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Publish addresses.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Maintain slashing reserve.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Pause deposits during incidents.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Market Expansion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Phase 1: oracle-simple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Phase 2: liquid RWA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Phase 3: commodities and indices after licensing.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Phase 4: HIP-4 outcome markets if mechanics mature.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Competitive Position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trade.xyz and HyENA prove HIP-3 operator demand.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adds community-funded deployer stake plus fee sharing.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At launch, HIP.markets is the operator.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Ask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 holders for capped beta.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Market makers for first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Oracle/data partners.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Security reviewers.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Hyperliquid ecosystem feedback.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80A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609600" y="640080"/>
            <a:ext cx="7924800" cy="100584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4300" b="1">
                <a:solidFill>
                  <a:srgbClr val="F4F7F8"/>
                </a:solidFill>
              </a:rPr>
              <a:t>Closing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914400" y="1905000"/>
            <a:ext cx="7924800" cy="36576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HIP.markets turns HYPE holders into economic backers of new Hyperliquid markets.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not maximizing APR.</a:t>
            </a:r>
          </a:p>
          <a:p>
            <a:pPr marL="285750" indent="-171450">
              <a:buChar char="•"/>
            </a:pPr>
            <a:r>
              <a:rPr lang="en-US" sz="2100">
                <a:solidFill>
                  <a:srgbClr val="D7E3EA"/>
                </a:solidFill>
              </a:rPr>
              <a:t>The first job is operating markets safely.</a:t>
            </a:r>
          </a:p>
        </p:txBody>
      </p:sp>
      <p:sp>
        <p:nvSpPr>
          <p:cNvPr id="4" name="Footer"/>
          <p:cNvSpPr txBox="1"/>
          <p:nvPr/>
        </p:nvSpPr>
        <p:spPr>
          <a:xfrm>
            <a:off x="609600" y="6400800"/>
            <a:ext cx="7924800" cy="300000"/>
          </a:xfrm>
          <a:prstGeom prst="rect">
            <a:avLst/>
          </a:prstGeom>
          <a:noFill/>
        </p:spPr>
        <p:txBody>
          <a:bodyPr wrap="square"/>
          <a:lstStyle/>
          <a:p>
            <a:r>
              <a:rPr lang="en-US" sz="1000">
                <a:solidFill>
                  <a:srgbClr val="35D29A"/>
                </a:solidFill>
              </a:rPr>
              <a:t>HIP.markets hackathon submission  | 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IP.markets">
  <a:themeElements>
    <a:clrScheme name="HIP">
      <a:dk1>
        <a:srgbClr val="080A0D"/>
      </a:dk1>
      <a:lt1>
        <a:srgbClr val="F4F7F8"/>
      </a:lt1>
      <a:dk2>
        <a:srgbClr val="121820"/>
      </a:dk2>
      <a:lt2>
        <a:srgbClr val="D7E3EA"/>
      </a:lt2>
      <a:accent1>
        <a:srgbClr val="35D29A"/>
      </a:accent1>
      <a:accent2>
        <a:srgbClr val="66A6FF"/>
      </a:accent2>
      <a:accent3>
        <a:srgbClr val="FF6B6B"/>
      </a:accent3>
      <a:accent4>
        <a:srgbClr val="93A4B1"/>
      </a:accent4>
      <a:accent5>
        <a:srgbClr val="26333F"/>
      </a:accent5>
      <a:accent6>
        <a:srgbClr val="17202A"/>
      </a:accent6>
      <a:hlink>
        <a:srgbClr val="66A6FF"/>
      </a:hlink>
      <a:folHlink>
        <a:srgbClr val="66A6FF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HIP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HIP.markets</Application>
  <Slides>13</Slides>
</Properties>
</file>

<file path=docProps/core.xml><?xml version="1.0" encoding="utf-8"?>
<cp:coreProperties xmlns:cp="http://schemas.openxmlformats.org/package/2006/metadata/core-properties" xmlns:dc="http://purl.org/dc/elements/1.1/">
  <dc:title>HIP.markets Hackathon Deck</dc:title>
  <dc:creator>HIP.markets</dc:creator>
</cp:coreProperties>
</file>