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/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</Relationships>
</file>

<file path=ppt/slides/_rels/slide4.xml.rels><?xml version="1.0" encoding="UTF-8" standalone="yes"?><Relationships xmlns="http://schemas.openxmlformats.org/package/2006/relationships"/>
</file>

<file path=ppt/slides/_rels/slide5.xml.rels><?xml version="1.0" encoding="UTF-8" standalone="yes"?><Relationships xmlns="http://schemas.openxmlformats.org/package/2006/relationships"/>
</file>

<file path=ppt/slides/_rels/slide6.xml.rels><?xml version="1.0" encoding="UTF-8" standalone="yes"?><Relationships xmlns="http://schemas.openxmlformats.org/package/2006/relationships"/>
</file>

<file path=ppt/slides/_rels/slide7.xml.rels><?xml version="1.0" encoding="UTF-8" standalone="yes"?><Relationships xmlns="http://schemas.openxmlformats.org/package/2006/relationships"/>
</file>

<file path=ppt/slides/_rels/slide8.xml.rels><?xml version="1.0" encoding="UTF-8" standalone="yes"?><Relationships xmlns="http://schemas.openxmlformats.org/package/2006/relationships"/>
</file>

<file path=ppt/slides/_rels/slide9.xml.rels><?xml version="1.0" encoding="UTF-8" standalone="yes"?><Relationships xmlns="http://schemas.openxmlformats.org/package/2006/relationships"/>
</file>

<file path=ppt/slides/_rels/slide10.xml.rels><?xml version="1.0" encoding="UTF-8" standalone="yes"?><Relationships xmlns="http://schemas.openxmlformats.org/package/2006/relationships"/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</Relationships>
</file>

<file path=ppt/slides/_rels/slide12.xml.rels><?xml version="1.0" encoding="UTF-8" standalone="yes"?><Relationships xmlns="http://schemas.openxmlformats.org/package/2006/relationships"/>
</file>

<file path=ppt/slides/_rels/slide13.xml.rels><?xml version="1.0" encoding="UTF-8" standalone="yes"?><Relationships xmlns="http://schemas.openxmlformats.org/package/2006/relationships"/>
</file>

<file path=ppt/slides/_rels/slide14.xml.rels><?xml version="1.0" encoding="UTF-8" standalone="yes"?><Relationships xmlns="http://schemas.openxmlformats.org/package/2006/relationships"/>
</file>

<file path=ppt/slides/_rels/slide15.xml.rels><?xml version="1.0" encoding="UTF-8" standalone="yes"?><Relationships xmlns="http://schemas.openxmlformats.org/package/2006/relationships"/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</Relationships>
</file>

<file path=ppt/slides/_rels/slide17.xml.rels><?xml version="1.0" encoding="UTF-8" standalone="yes"?><Relationships xmlns="http://schemas.openxmlformats.org/package/2006/relationships"/>
</file>

<file path=ppt/slides/_rels/slide18.xml.rels><?xml version="1.0" encoding="UTF-8" standalone="yes"?><Relationships xmlns="http://schemas.openxmlformats.org/package/2006/relationships"/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png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png"/>
</Relationships>
</file>

<file path=ppt/slides/_rels/slide21.xml.rels><?xml version="1.0" encoding="UTF-8" standalone="yes"?><Relationships xmlns="http://schemas.openxmlformats.org/package/2006/relationships"/>
</file>

<file path=ppt/slides/_rels/slide22.xml.rels><?xml version="1.0" encoding="UTF-8" standalone="yes"?><Relationships xmlns="http://schemas.openxmlformats.org/package/2006/relationships"/>
</file>

<file path=ppt/slides/_rels/slide23.xml.rels><?xml version="1.0" encoding="UTF-8" standalone="yes"?><Relationships xmlns="http://schemas.openxmlformats.org/package/2006/relationships"/>
</file>

<file path=ppt/slides/_rels/slide24.xml.rels><?xml version="1.0" encoding="UTF-8" standalone="yes"?><Relationships xmlns="http://schemas.openxmlformats.org/package/2006/relationships"/>
</file>

<file path=ppt/slides/_rels/slide25.xml.rels><?xml version="1.0" encoding="UTF-8" standalone="yes"?><Relationships xmlns="http://schemas.openxmlformats.org/package/2006/relationships"/>
</file>

<file path=ppt/slides/_rels/slide26.xml.rels><?xml version="1.0" encoding="UTF-8" standalone="yes"?><Relationships xmlns="http://schemas.openxmlformats.org/package/2006/relationships"/>
</file>

<file path=ppt/slides/_rels/slide27.xml.rels><?xml version="1.0" encoding="UTF-8" standalone="yes"?><Relationships xmlns="http://schemas.openxmlformats.org/package/2006/relationships"/>
</file>

<file path=ppt/slides/_rels/slide28.xml.rels><?xml version="1.0" encoding="UTF-8" standalone="yes"?><Relationships xmlns="http://schemas.openxmlformats.org/package/2006/relationships"/>
</file>

<file path=ppt/slides/_rels/slide29.xml.rels><?xml version="1.0" encoding="UTF-8" standalone="yes"?><Relationships xmlns="http://schemas.openxmlformats.org/package/2006/relationships"/>
</file>

<file path=ppt/slides/_rels/slide30.xml.rels><?xml version="1.0" encoding="UTF-8" standalone="yes"?>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HIP.markets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Community-backed HIP-3 markets on Hyperliquid.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Fund the market operator. Share the builder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Brand System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Original terminal-native brand for an operator-vault product.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 Cat is a risk sentinel, not a yield mascot.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Mint = execution, blue = oracle data, amber = risk.</a:t>
            </a:r>
          </a:p>
        </p:txBody>
      </p:sp>
      <p:pic>
        <p:nvPicPr>
          <p:cNvPr id="5" name="brand-system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Hyperliquid Is Already Exchange-Scale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DefiLlama reference: $307.3B 30d perp volume, $15.6B 24h perp volume, and $13.3B open interest.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builders are plugging into proven exchange-scale flow, not an empty ecosystem.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question is who can finance, operate, and risk-manage new markets.</a:t>
            </a:r>
          </a:p>
        </p:txBody>
      </p:sp>
      <p:pic>
        <p:nvPicPr>
          <p:cNvPr id="5" name="market-context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The 500k HYPE Blocker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mainnet requires 500,000 HYPE staked per perp DEX.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At $42.7015 HYPE, that is roughly $21.35M before oracle, maker, data, legal, audit, and incident costs.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turns that blocker into a community-backed operator stake.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Why HYPE Holders Care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Current HYPE staking references are around 2.37% APY.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offers higher-risk exposure to net deployer fees from markets that stakers help enable.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This is exchange-operator underwriting, not passive liquid staking.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Operator Fees Should Not Be Invisible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proves HIP-3 can attract real demand.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Under the standard operator model, deployer fees accrue to the operator fee recipient.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changes the design: community HYPE funds the stake, HIP.markets operates the DEX, and net deployer fees can flow back to stakers.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Jeff Yan-Inspired Product Bar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Do not look like a yield wrapper; look like an underwriting and operator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Treat 500k HYPE as a quality filter, not a loophole.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Reliability beats launch count: fewer markets, better oracles, clearer fee accounting.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The Problem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DEXs need 500,000 HYPE staked.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 is only the start: operators also need oracles, liquidity, risk controls, and fee accounting.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Stakers need slashing risk beside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Product Thesis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not passive liquid staking.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the operator.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Users back the HIP.markets deployer stake and share net deployer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Why Now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has moved from one exchange into market infrastructure.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lets specialist operators list new perpetual markets while HyperCore provides execution rails.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bottleneck shifts to capital, oracle operations, and operator credibility.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Trade.xyz Reference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60 markets, $2.50B 30-day volume, and $121.98K total 30-day fees.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Estimated deployer revenue: $60.99K over 30 days before operating costs.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Gross implied APR: 3.47% on the 500k HYPE minimum stake at $42.8085 HYPE.</a:t>
            </a:r>
          </a:p>
        </p:txBody>
      </p:sp>
      <p:pic>
        <p:nvPicPr>
          <p:cNvPr id="5" name="tradexyz-referenc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Successful Market Pattern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Trade.xyz's highest-volume tickers are not only crypto assets.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XYZ100 and SP500: roughly $444M each over 30 days.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SILVER, CL, SNDK, MU, NVDA, BRENTOIL, CBRS, INTC, and GOLD show RWA-style breadth.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should launch where oracle confidence, liquidity, and narrative demand overlap.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Revenue Interpretation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deployer share is fixed at 50% from the deployer perspective.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reports deployerFeeScale = 1.0.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Gross revenue is not distributable profit until oracle, data, maker, legal, reserve, and incident costs are deducted.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UI Benchmark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proves serious HIP-3 markets need trading-terminal density.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Useful patterns: market rail, order ticket, positions tabs, account modes, Ghost Mode observability, explicit warnings.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UX Translation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rail -&gt; first-three-market launch rail.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Order ticket -&gt; HYPE deposit ticket.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Positions panel -&gt; vault shares, fee history, oracle updates, market launches.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Ghost Mode -&gt; operator monitor.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 Walkthrough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screen is the usable operator console, not a landing page.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capacity, APR, oracle cadence, risk state, market rail, fee model, deposit ticket, and monitor are visible in one workflow.</a:t>
            </a:r>
          </a:p>
        </p:txBody>
      </p:sp>
      <p:pic>
        <p:nvPicPr>
          <p:cNvPr id="5" name="demo-dashboard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Fee Model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Judges can change HYPE price, staked HYPE, daily volume, fee bps, builder share, operating fee, protocol fee, and reserve.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APR updates instantly.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Deposit Ticket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Mirrors a trading order pane.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Amount input, deposit/withdraw mode, fee summary, user rewards estimate, and slashing warning.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Audit Ledger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Fee sharing becomes an inspectable ledger.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shares, fee history, oracle updates, and market launch readiness expose operator behavior.</a:t>
            </a:r>
          </a:p>
        </p:txBody>
      </p:sp>
      <p:pic>
        <p:nvPicPr>
          <p:cNvPr id="5" name="demo-fee-ledger-view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Contract Wiring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Wallet-aware flow: connect wallet, configure vault/token addresses, approve HYPE, deposit, and claim rewards.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UI also shows which actions still require operator multisig and risk-council execution.</a:t>
            </a:r>
          </a:p>
        </p:txBody>
      </p:sp>
      <p:pic>
        <p:nvPicPr>
          <p:cNvPr id="5" name="demo-contract-wiring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Contract Depth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now models vHIPM receipt shares, vault caps, withdrawal queues, reward accounting, and slash losses.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Operator lifecycle: funding, stake-ready, stake-escrowed, approved, live, wind-down, and slashed.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Registry tracks launch checklist, fee epochs, oracle health, market status, and risk state.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System Flow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1. HYPE holders deposit into the HyperEVM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2. Vault backs HIP.markets deployer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3. Operator multisig escrows funded HYPE to the deployer stake controller.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4. Risk council records HIP-3 operator approval.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5. HIP.markets launches markets, traders generate fees, and net rewards distribute after deductions.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Economics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Base model: 500k HYPE, $50M daily volume, 6 bps fee, 50% deployer share.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After 40% operating/protocol/reserve deductions: approximately 15% net APR.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trailing fees imply approximately 3.47% gross APR on the minimum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Sensitivity matters more than headline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Risk Controls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Start with oracle-simple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Avoid extra ticker auction costs at launch.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Cap open interest, publish addresses, maintain reserve, pause deposits during incidents.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Cost Stack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500k HYPE stake is the entry ticket, not the full cost of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Budget for oracle relayers, licensed data, maker incentives, infrastructure, key management, audits, legal work, and incident reserves.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MVP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HIP.markets-operated DEX.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HYPE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First three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Weekly distributions.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Public dashboard.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No third-party operator financing.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Roadmap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V1: prove operator vault and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V2: more HIP.markets market vaults and automated fee verification.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V3: risk tranching, secondary shares, HIP-4, possible third-party financing once the trust model is mature.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Competitive Position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and HyENA operate markets directly.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also operates markets directly, but adds user-funded HYPE stake and transparent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wedge is making HYPE holders economic backers of the operator.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Ask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 holders for capped beta.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makers for first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 and data partners.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Security reviewers.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feedback on custody and fee routing.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Closing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turns builder-deployed markets into a community-backed operator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job is operating markets safely.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P.markets">
  <a:themeElements>
    <a:clrScheme name="HIP">
      <a:dk1>
        <a:srgbClr val="080A0D"/>
      </a:dk1>
      <a:lt1>
        <a:srgbClr val="F4F7F8"/>
      </a:lt1>
      <a:dk2>
        <a:srgbClr val="121820"/>
      </a:dk2>
      <a:lt2>
        <a:srgbClr val="D7E3EA"/>
      </a:lt2>
      <a:accent1>
        <a:srgbClr val="35D29A"/>
      </a:accent1>
      <a:accent2>
        <a:srgbClr val="66A6FF"/>
      </a:accent2>
      <a:accent3>
        <a:srgbClr val="FF6B6B"/>
      </a:accent3>
      <a:accent4>
        <a:srgbClr val="93A4B1"/>
      </a:accent4>
      <a:accent5>
        <a:srgbClr val="26333F"/>
      </a:accent5>
      <a:accent6>
        <a:srgbClr val="17202A"/>
      </a:accent6>
      <a:hlink>
        <a:srgbClr val="66A6FF"/>
      </a:hlink>
      <a:folHlink>
        <a:srgbClr val="66A6FF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HIP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HIP.markets</Application>
  <Slides>30</Slides>
</Properties>
</file>

<file path=docProps/core.xml><?xml version="1.0" encoding="utf-8"?>
<cp:coreProperties xmlns:cp="http://schemas.openxmlformats.org/package/2006/metadata/core-properties" xmlns:dc="http://purl.org/dc/elements/1.1/">
  <dc:title>HIP.markets Hackathon Deck</dc:title>
  <dc:creator>HIP.markets</dc:creator>
</cp:coreProperties>
</file>